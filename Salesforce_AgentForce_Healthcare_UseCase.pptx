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537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719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604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864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956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765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058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746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78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07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2213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634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15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408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4010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8390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469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938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AgentForce</a:t>
            </a:r>
            <a:r>
              <a:rPr dirty="0"/>
              <a:t> for</a:t>
            </a:r>
          </a:p>
          <a:p>
            <a:r>
              <a:rPr dirty="0"/>
              <a:t>Critical Illness Support in Healthcare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 Patient &amp; Hospital-Centric Use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Patients with critical illnesses often lack awareness of available financial aid.</a:t>
            </a:r>
          </a:p>
          <a:p>
            <a:r>
              <a:t>Hospitals struggle to coordinate with NGOs, charities, and government schemes.</a:t>
            </a:r>
          </a:p>
          <a:p>
            <a:r>
              <a:t>Manual tracking of schemes, donors, and patient eligibility is inefficient.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Transforming Access to Aid with AgentForce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Empower patients to discover funding support using AI-powered assistance.</a:t>
            </a:r>
          </a:p>
          <a:p>
            <a:r>
              <a:rPr dirty="0"/>
              <a:t>Enable hospital administrators to manage partnerships and eligibility data efficiently.</a:t>
            </a:r>
          </a:p>
          <a:p>
            <a:r>
              <a:rPr dirty="0"/>
              <a:t>Automate donor communications and </a:t>
            </a:r>
            <a:r>
              <a:rPr lang="en-IN" dirty="0"/>
              <a:t>patient </a:t>
            </a:r>
            <a:r>
              <a:rPr dirty="0"/>
              <a:t>case matching.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Patient: Seeks financial aid → Discover relevant schemes, apply easily.</a:t>
            </a:r>
          </a:p>
          <a:p>
            <a:r>
              <a:rPr dirty="0"/>
              <a:t>Hospital Admin: Coordinates aid → Track, onboard partners, manage cases.</a:t>
            </a:r>
          </a:p>
          <a:p>
            <a:r>
              <a:rPr dirty="0"/>
              <a:t>NGO/Donor: Provides funding → Get matched with genuine needs.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AgentForce Use Case Scenarios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Patients: Search for government/NGO funding based on diagnosis.</a:t>
            </a:r>
          </a:p>
          <a:p>
            <a:r>
              <a:rPr dirty="0"/>
              <a:t>Administrators: Track all schemes, manage donor data, onboard NGOs.</a:t>
            </a:r>
          </a:p>
          <a:p>
            <a:r>
              <a:rPr dirty="0"/>
              <a:t>Donors: Receive alerts for eligible patients based on funding preferences.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Salesforce-Powered Support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Agent Interface (Patient/Admin)</a:t>
            </a:r>
          </a:p>
          <a:p>
            <a:r>
              <a:rPr dirty="0"/>
              <a:t>Salesforce Data Cloud (Schemes, Donors, NGOs)</a:t>
            </a:r>
            <a:r>
              <a:rPr lang="en-IN" dirty="0"/>
              <a:t> **</a:t>
            </a:r>
            <a:endParaRPr dirty="0"/>
          </a:p>
          <a:p>
            <a:r>
              <a:rPr dirty="0"/>
              <a:t>Flows &amp; Rules Engine</a:t>
            </a:r>
          </a:p>
          <a:p>
            <a:r>
              <a:rPr dirty="0"/>
              <a:t>Email/Notification System</a:t>
            </a:r>
          </a:p>
          <a:p>
            <a:r>
              <a:rPr dirty="0"/>
              <a:t>Integration APIs for scheme databases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13253-B443-65E1-53D3-33668FBBF268}"/>
              </a:ext>
            </a:extLst>
          </p:cNvPr>
          <p:cNvSpPr txBox="1"/>
          <p:nvPr/>
        </p:nvSpPr>
        <p:spPr>
          <a:xfrm>
            <a:off x="6731001" y="6135669"/>
            <a:ext cx="19134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dirty="0"/>
              <a:t>** Currently not implemented in hackathon use 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Value Delivered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Improved patient access to financial aid.</a:t>
            </a:r>
          </a:p>
          <a:p>
            <a:r>
              <a:rPr dirty="0"/>
              <a:t>Reduced admin workload and manual tracking.</a:t>
            </a:r>
          </a:p>
          <a:p>
            <a:r>
              <a:rPr dirty="0"/>
              <a:t>Stronger partnerships with NGOs/charities.</a:t>
            </a:r>
          </a:p>
          <a:p>
            <a:r>
              <a:rPr dirty="0"/>
              <a:t>Personalized and timely donor engagement.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Phase 1: MVP with patient discovery and scheme tracking.</a:t>
            </a:r>
          </a:p>
          <a:p>
            <a:r>
              <a:rPr dirty="0"/>
              <a:t>Phase 2: Admin tools for onboarding NGOs and donors.</a:t>
            </a:r>
          </a:p>
          <a:p>
            <a:r>
              <a:rPr dirty="0"/>
              <a:t>Phase 3: Automated matching and communication flows.</a:t>
            </a:r>
          </a:p>
          <a:p>
            <a:r>
              <a:rPr dirty="0"/>
              <a:t>Pilot launch with selected hospitals and charities.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0DCFDF3-5341-C2AE-843E-C1C42B5037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90282"/>
              </p:ext>
            </p:extLst>
          </p:nvPr>
        </p:nvGraphicFramePr>
        <p:xfrm>
          <a:off x="211666" y="421733"/>
          <a:ext cx="8432801" cy="34052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4655">
                  <a:extLst>
                    <a:ext uri="{9D8B030D-6E8A-4147-A177-3AD203B41FA5}">
                      <a16:colId xmlns:a16="http://schemas.microsoft.com/office/drawing/2014/main" val="2738773010"/>
                    </a:ext>
                  </a:extLst>
                </a:gridCol>
                <a:gridCol w="2278142">
                  <a:extLst>
                    <a:ext uri="{9D8B030D-6E8A-4147-A177-3AD203B41FA5}">
                      <a16:colId xmlns:a16="http://schemas.microsoft.com/office/drawing/2014/main" val="1390181769"/>
                    </a:ext>
                  </a:extLst>
                </a:gridCol>
                <a:gridCol w="2167909">
                  <a:extLst>
                    <a:ext uri="{9D8B030D-6E8A-4147-A177-3AD203B41FA5}">
                      <a16:colId xmlns:a16="http://schemas.microsoft.com/office/drawing/2014/main" val="1617198210"/>
                    </a:ext>
                  </a:extLst>
                </a:gridCol>
                <a:gridCol w="1782095">
                  <a:extLst>
                    <a:ext uri="{9D8B030D-6E8A-4147-A177-3AD203B41FA5}">
                      <a16:colId xmlns:a16="http://schemas.microsoft.com/office/drawing/2014/main" val="1470406259"/>
                    </a:ext>
                  </a:extLst>
                </a:gridCol>
              </a:tblGrid>
              <a:tr h="300459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u="none" strike="noStrike" dirty="0">
                          <a:effectLst/>
                        </a:rPr>
                        <a:t>Area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u="none" strike="noStrike" dirty="0">
                          <a:effectLst/>
                        </a:rPr>
                        <a:t>Current State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u="none" strike="noStrike" dirty="0">
                          <a:effectLst/>
                        </a:rPr>
                        <a:t>Post-</a:t>
                      </a:r>
                      <a:r>
                        <a:rPr lang="en-IN" sz="1200" b="1" u="none" strike="noStrike" dirty="0" err="1">
                          <a:effectLst/>
                        </a:rPr>
                        <a:t>AgentForce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u="none" strike="noStrike" dirty="0">
                          <a:effectLst/>
                        </a:rPr>
                        <a:t>ROI Impact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extLst>
                  <a:ext uri="{0D108BD9-81ED-4DB2-BD59-A6C34878D82A}">
                    <a16:rowId xmlns:a16="http://schemas.microsoft.com/office/drawing/2014/main" val="2536683238"/>
                  </a:ext>
                </a:extLst>
              </a:tr>
              <a:tr h="6009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 dirty="0">
                          <a:effectLst/>
                        </a:rPr>
                        <a:t>Admin Time for Case Handling</a:t>
                      </a:r>
                      <a:endParaRPr 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~4–6 hours per patient case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>
                          <a:effectLst/>
                        </a:rPr>
                        <a:t>~30–45 mins</a:t>
                      </a:r>
                      <a:endParaRPr lang="en-IN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80%+ time savings = reduced staffing costs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extLst>
                  <a:ext uri="{0D108BD9-81ED-4DB2-BD59-A6C34878D82A}">
                    <a16:rowId xmlns:a16="http://schemas.microsoft.com/office/drawing/2014/main" val="4200425357"/>
                  </a:ext>
                </a:extLst>
              </a:tr>
              <a:tr h="600918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 dirty="0">
                          <a:effectLst/>
                        </a:rPr>
                        <a:t>Donor Engagement Rate</a:t>
                      </a:r>
                      <a:endParaRPr lang="en-IN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 dirty="0">
                          <a:effectLst/>
                        </a:rPr>
                        <a:t>~5–10% response to manual outreach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>
                          <a:effectLst/>
                        </a:rPr>
                        <a:t>~30–40% with automated targeting</a:t>
                      </a:r>
                      <a:endParaRPr lang="en-IN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More donations with fewer manual efforts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extLst>
                  <a:ext uri="{0D108BD9-81ED-4DB2-BD59-A6C34878D82A}">
                    <a16:rowId xmlns:a16="http://schemas.microsoft.com/office/drawing/2014/main" val="2273750343"/>
                  </a:ext>
                </a:extLst>
              </a:tr>
              <a:tr h="70107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>
                          <a:effectLst/>
                        </a:rPr>
                        <a:t>Unclaimed Scheme Utilization</a:t>
                      </a:r>
                      <a:endParaRPr lang="en-IN" sz="105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 dirty="0">
                          <a:effectLst/>
                        </a:rPr>
                        <a:t>Many patients miss out due to lack of awareness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Majority guided to apply via Agent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More reimbursements → lower hospital write-offs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extLst>
                  <a:ext uri="{0D108BD9-81ED-4DB2-BD59-A6C34878D82A}">
                    <a16:rowId xmlns:a16="http://schemas.microsoft.com/office/drawing/2014/main" val="3483973529"/>
                  </a:ext>
                </a:extLst>
              </a:tr>
              <a:tr h="6009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Patient Dropouts Due to Cost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 dirty="0">
                          <a:effectLst/>
                        </a:rPr>
                        <a:t>High in low-income areas</a:t>
                      </a:r>
                      <a:endParaRPr lang="en-IN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>
                          <a:effectLst/>
                        </a:rPr>
                        <a:t>Reduced by proactive funding matches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>
                          <a:effectLst/>
                        </a:rPr>
                        <a:t>Higher patient retention &amp; satisfaction</a:t>
                      </a:r>
                      <a:endParaRPr lang="en-IN" sz="105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extLst>
                  <a:ext uri="{0D108BD9-81ED-4DB2-BD59-A6C34878D82A}">
                    <a16:rowId xmlns:a16="http://schemas.microsoft.com/office/drawing/2014/main" val="118547006"/>
                  </a:ext>
                </a:extLst>
              </a:tr>
              <a:tr h="600918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>
                          <a:effectLst/>
                        </a:rPr>
                        <a:t>Onboarding New NGOs/Donors</a:t>
                      </a:r>
                      <a:endParaRPr lang="en-IN" sz="105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50" u="none" strike="noStrike" dirty="0">
                          <a:effectLst/>
                        </a:rPr>
                        <a:t>Manual, email-driven</a:t>
                      </a:r>
                      <a:endParaRPr lang="en-IN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 dirty="0">
                          <a:effectLst/>
                        </a:rPr>
                        <a:t>Self-service onboarding via admin UI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u="none" strike="noStrike" dirty="0">
                          <a:effectLst/>
                        </a:rPr>
                        <a:t>Faster onboarding → expanded donor pool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547" marR="5547" marT="5547" marB="0" anchor="ctr"/>
                </a:tc>
                <a:extLst>
                  <a:ext uri="{0D108BD9-81ED-4DB2-BD59-A6C34878D82A}">
                    <a16:rowId xmlns:a16="http://schemas.microsoft.com/office/drawing/2014/main" val="25509016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34F0698-E7B2-D59D-AA57-D6E5E71DF805}"/>
              </a:ext>
            </a:extLst>
          </p:cNvPr>
          <p:cNvSpPr txBox="1"/>
          <p:nvPr/>
        </p:nvSpPr>
        <p:spPr>
          <a:xfrm>
            <a:off x="0" y="52401"/>
            <a:ext cx="5147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Quantitative ROI ( Measurable Gains ) **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53781-B1EA-7131-8F30-6634627249AD}"/>
              </a:ext>
            </a:extLst>
          </p:cNvPr>
          <p:cNvSpPr txBox="1"/>
          <p:nvPr/>
        </p:nvSpPr>
        <p:spPr>
          <a:xfrm>
            <a:off x="-1" y="4037425"/>
            <a:ext cx="7078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Qualitative ROI ( Strategic and Social Value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8BD98-6D53-0AAE-D048-2DAAB61CF4FF}"/>
              </a:ext>
            </a:extLst>
          </p:cNvPr>
          <p:cNvSpPr txBox="1"/>
          <p:nvPr/>
        </p:nvSpPr>
        <p:spPr>
          <a:xfrm>
            <a:off x="135466" y="4535231"/>
            <a:ext cx="8585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 fontAlgn="ctr">
              <a:buFont typeface="Arial" panose="020B0604020202020204" pitchFamily="34" charset="0"/>
              <a:buChar char="•"/>
            </a:pPr>
            <a:r>
              <a:rPr lang="en-IN" sz="1200" b="1" dirty="0">
                <a:effectLst/>
                <a:latin typeface="Calibri" panose="020F0502020204030204" pitchFamily="34" charset="0"/>
              </a:rPr>
              <a:t>Improved patient trust and loyalty</a:t>
            </a:r>
            <a:r>
              <a:rPr lang="en-IN" sz="1200" dirty="0">
                <a:effectLst/>
                <a:latin typeface="Calibri" panose="020F0502020204030204" pitchFamily="34" charset="0"/>
              </a:rPr>
              <a:t> → by demonstrating care beyond treatment</a:t>
            </a:r>
          </a:p>
          <a:p>
            <a:pPr rtl="0" fontAlgn="ctr">
              <a:buFont typeface="Arial" panose="020B0604020202020204" pitchFamily="34" charset="0"/>
              <a:buChar char="•"/>
            </a:pPr>
            <a:endParaRPr lang="en-IN" sz="1200" dirty="0">
              <a:effectLst/>
              <a:latin typeface="Calibri" panose="020F050202020403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r>
              <a:rPr lang="en-IN" sz="1200" b="1" dirty="0">
                <a:effectLst/>
                <a:latin typeface="Calibri" panose="020F0502020204030204" pitchFamily="34" charset="0"/>
              </a:rPr>
              <a:t>Enhanced brand reputation</a:t>
            </a:r>
            <a:r>
              <a:rPr lang="en-IN" sz="1200" dirty="0">
                <a:effectLst/>
                <a:latin typeface="Calibri" panose="020F0502020204030204" pitchFamily="34" charset="0"/>
              </a:rPr>
              <a:t> → hospital seen as socially responsible and tech-forward</a:t>
            </a:r>
          </a:p>
          <a:p>
            <a:pPr rtl="0" fontAlgn="ctr">
              <a:buFont typeface="Arial" panose="020B0604020202020204" pitchFamily="34" charset="0"/>
              <a:buChar char="•"/>
            </a:pPr>
            <a:endParaRPr lang="en-IN" sz="1200" dirty="0">
              <a:effectLst/>
              <a:latin typeface="Calibri" panose="020F050202020403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r>
              <a:rPr lang="en-IN" sz="1200" b="1" dirty="0">
                <a:effectLst/>
                <a:latin typeface="Calibri" panose="020F0502020204030204" pitchFamily="34" charset="0"/>
              </a:rPr>
              <a:t>Increased internal transparency</a:t>
            </a:r>
            <a:r>
              <a:rPr lang="en-IN" sz="1200" dirty="0">
                <a:effectLst/>
                <a:latin typeface="Calibri" panose="020F0502020204030204" pitchFamily="34" charset="0"/>
              </a:rPr>
              <a:t> → real-time visibility into who got what help and why</a:t>
            </a:r>
          </a:p>
          <a:p>
            <a:pPr rtl="0" fontAlgn="ctr">
              <a:buFont typeface="Arial" panose="020B0604020202020204" pitchFamily="34" charset="0"/>
              <a:buChar char="•"/>
            </a:pPr>
            <a:endParaRPr lang="en-IN" sz="1200" dirty="0">
              <a:effectLst/>
              <a:latin typeface="Calibri" panose="020F050202020403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r>
              <a:rPr lang="en-IN" sz="1200" b="1" dirty="0">
                <a:effectLst/>
                <a:latin typeface="Calibri" panose="020F0502020204030204" pitchFamily="34" charset="0"/>
              </a:rPr>
              <a:t>Simplified compliance</a:t>
            </a:r>
            <a:r>
              <a:rPr lang="en-IN" sz="1200" dirty="0">
                <a:effectLst/>
                <a:latin typeface="Calibri" panose="020F0502020204030204" pitchFamily="34" charset="0"/>
              </a:rPr>
              <a:t> → automated documentation of aid given through schemes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9C016-3C11-0759-301D-B073F9CEC81B}"/>
              </a:ext>
            </a:extLst>
          </p:cNvPr>
          <p:cNvSpPr txBox="1"/>
          <p:nvPr/>
        </p:nvSpPr>
        <p:spPr>
          <a:xfrm>
            <a:off x="6731001" y="6135669"/>
            <a:ext cx="19134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dirty="0"/>
              <a:t>** Projected Estimates with rough calculations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4135443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5289-D7BE-52FA-DA74-777E8777C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280C347-5837-461B-28C1-276D77990518}"/>
              </a:ext>
            </a:extLst>
          </p:cNvPr>
          <p:cNvSpPr txBox="1"/>
          <p:nvPr/>
        </p:nvSpPr>
        <p:spPr>
          <a:xfrm>
            <a:off x="452966" y="598945"/>
            <a:ext cx="8238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Example ROI Estimate over 12 months ** ( for a 500-bed Hospital )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EE202C8-C84C-BA15-A7D9-2BF440C5B5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959707"/>
              </p:ext>
            </p:extLst>
          </p:nvPr>
        </p:nvGraphicFramePr>
        <p:xfrm>
          <a:off x="549931" y="1287821"/>
          <a:ext cx="7806670" cy="45259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09841">
                  <a:extLst>
                    <a:ext uri="{9D8B030D-6E8A-4147-A177-3AD203B41FA5}">
                      <a16:colId xmlns:a16="http://schemas.microsoft.com/office/drawing/2014/main" val="1300301816"/>
                    </a:ext>
                  </a:extLst>
                </a:gridCol>
                <a:gridCol w="3996829">
                  <a:extLst>
                    <a:ext uri="{9D8B030D-6E8A-4147-A177-3AD203B41FA5}">
                      <a16:colId xmlns:a16="http://schemas.microsoft.com/office/drawing/2014/main" val="816146043"/>
                    </a:ext>
                  </a:extLst>
                </a:gridCol>
              </a:tblGrid>
              <a:tr h="31213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900" b="1" u="none" strike="noStrike">
                          <a:effectLst/>
                        </a:rPr>
                        <a:t>Metric</a:t>
                      </a:r>
                      <a:endParaRPr lang="en-IN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900" b="1" u="none" strike="noStrike" dirty="0">
                          <a:effectLst/>
                        </a:rPr>
                        <a:t>Estimated Value</a:t>
                      </a:r>
                      <a:endParaRPr lang="en-IN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extLst>
                  <a:ext uri="{0D108BD9-81ED-4DB2-BD59-A6C34878D82A}">
                    <a16:rowId xmlns:a16="http://schemas.microsoft.com/office/drawing/2014/main" val="4045905126"/>
                  </a:ext>
                </a:extLst>
              </a:tr>
              <a:tr h="62427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u="none" strike="noStrike" dirty="0">
                          <a:effectLst/>
                        </a:rPr>
                        <a:t>Admin hours saved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u="none" strike="noStrike">
                          <a:effectLst/>
                        </a:rPr>
                        <a:t>2,000+ hrs → ₹20–25 lakh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extLst>
                  <a:ext uri="{0D108BD9-81ED-4DB2-BD59-A6C34878D82A}">
                    <a16:rowId xmlns:a16="http://schemas.microsoft.com/office/drawing/2014/main" val="3960675725"/>
                  </a:ext>
                </a:extLst>
              </a:tr>
              <a:tr h="936406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u="none" strike="noStrike" dirty="0">
                          <a:effectLst/>
                        </a:rPr>
                        <a:t>Increased scheme utilization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>
                          <a:effectLst/>
                        </a:rPr>
                        <a:t>₹40–60 lakh worth of patient aid accessed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extLst>
                  <a:ext uri="{0D108BD9-81ED-4DB2-BD59-A6C34878D82A}">
                    <a16:rowId xmlns:a16="http://schemas.microsoft.com/office/drawing/2014/main" val="209397785"/>
                  </a:ext>
                </a:extLst>
              </a:tr>
              <a:tr h="936406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u="none" strike="noStrike" dirty="0">
                          <a:effectLst/>
                        </a:rPr>
                        <a:t>Improved donor funding secured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>
                          <a:effectLst/>
                        </a:rPr>
                        <a:t>₹30–50 lakh through automated outreach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extLst>
                  <a:ext uri="{0D108BD9-81ED-4DB2-BD59-A6C34878D82A}">
                    <a16:rowId xmlns:a16="http://schemas.microsoft.com/office/drawing/2014/main" val="2225207138"/>
                  </a:ext>
                </a:extLst>
              </a:tr>
              <a:tr h="109247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</a:rPr>
                        <a:t>Cost to implement (Salesforce licenses + setup)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u="none" strike="noStrike">
                          <a:effectLst/>
                        </a:rPr>
                        <a:t>₹25–35 lakh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extLst>
                  <a:ext uri="{0D108BD9-81ED-4DB2-BD59-A6C34878D82A}">
                    <a16:rowId xmlns:a16="http://schemas.microsoft.com/office/drawing/2014/main" val="1247969337"/>
                  </a:ext>
                </a:extLst>
              </a:tr>
              <a:tr h="62427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1" u="none" strike="noStrike" dirty="0">
                          <a:effectLst/>
                        </a:rPr>
                        <a:t>Net ROI (Year 1)</a:t>
                      </a:r>
                      <a:endParaRPr lang="en-IN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</a:rPr>
                        <a:t>₹60–100 lakh in value unlocked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03" marR="6503" marT="6503" marB="0" anchor="ctr"/>
                </a:tc>
                <a:extLst>
                  <a:ext uri="{0D108BD9-81ED-4DB2-BD59-A6C34878D82A}">
                    <a16:rowId xmlns:a16="http://schemas.microsoft.com/office/drawing/2014/main" val="73093331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BE2051A-617E-B725-F0E3-4CF9BF0C7EA4}"/>
              </a:ext>
            </a:extLst>
          </p:cNvPr>
          <p:cNvSpPr txBox="1"/>
          <p:nvPr/>
        </p:nvSpPr>
        <p:spPr>
          <a:xfrm>
            <a:off x="6604001" y="5949349"/>
            <a:ext cx="19134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dirty="0"/>
              <a:t>** Projected Estimates with rough calculations and </a:t>
            </a:r>
            <a:r>
              <a:rPr lang="en-IN" sz="800" dirty="0" err="1"/>
              <a:t>asumptions</a:t>
            </a:r>
            <a:endParaRPr lang="en-IN" sz="800" dirty="0"/>
          </a:p>
        </p:txBody>
      </p:sp>
    </p:spTree>
    <p:extLst>
      <p:ext uri="{BB962C8B-B14F-4D97-AF65-F5344CB8AC3E}">
        <p14:creationId xmlns:p14="http://schemas.microsoft.com/office/powerpoint/2010/main" val="2367142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260</TotalTime>
  <Words>541</Words>
  <Application>Microsoft Office PowerPoint</Application>
  <PresentationFormat>On-screen Show (4:3)</PresentationFormat>
  <Paragraphs>84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Wingdings 3</vt:lpstr>
      <vt:lpstr>Ion Boardroom</vt:lpstr>
      <vt:lpstr>AgentForce for Critical Illness Support in Healthcare</vt:lpstr>
      <vt:lpstr>Problem Statement</vt:lpstr>
      <vt:lpstr>Transforming Access to Aid with AgentForce</vt:lpstr>
      <vt:lpstr>Stakeholders</vt:lpstr>
      <vt:lpstr>AgentForce Use Case Scenarios</vt:lpstr>
      <vt:lpstr>Salesforce-Powered Support Ecosystem</vt:lpstr>
      <vt:lpstr>Value Delivered</vt:lpstr>
      <vt:lpstr>Implementation Roadmap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Geethanjali G</cp:lastModifiedBy>
  <cp:revision>9</cp:revision>
  <dcterms:created xsi:type="dcterms:W3CDTF">2013-01-27T09:14:16Z</dcterms:created>
  <dcterms:modified xsi:type="dcterms:W3CDTF">2025-04-30T11:32:41Z</dcterms:modified>
  <cp:category/>
</cp:coreProperties>
</file>